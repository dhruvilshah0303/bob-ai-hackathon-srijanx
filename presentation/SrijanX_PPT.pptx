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6" y="-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_cover_bg_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4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4754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5F7F8"/>
                </a:solidFill>
                <a:latin typeface="Aptos"/>
              </a:rPr>
              <a:t>IBM BOB HACKATHON / AI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5303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1" i="0">
                <a:solidFill>
                  <a:srgbClr val="F5F7F8"/>
                </a:solidFill>
                <a:latin typeface="Aptos"/>
              </a:rPr>
              <a:t>SrijanX Presents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571500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0" i="0">
                <a:solidFill>
                  <a:srgbClr val="F5F7F8"/>
                </a:solidFill>
                <a:latin typeface="Arial"/>
              </a:rPr>
              <a:t>AI Ambulance-to-
Hospital Coordinator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85032"/>
            <a:ext cx="4983480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10" b="0" i="0">
                <a:solidFill>
                  <a:srgbClr val="F5F7F8"/>
                </a:solidFill>
                <a:latin typeface="Aptos"/>
              </a:rPr>
              <a:t>An explainable emergency-dispatch dashboard that recommends the hospital where a patient can reach appropriate treatment fastest — not simply the nearest one.</a:t>
            </a:r>
          </a:p>
        </p:txBody>
      </p:sp>
      <p:sp>
        <p:nvSpPr>
          <p:cNvPr id="8" name="TextBox 7"/>
          <p:cNvSpPr txBox="1"/>
          <p:nvPr/>
        </p:nvSpPr>
        <p:spPr>
          <a:xfrm rot="5400000">
            <a:off x="9921240" y="896112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40" b="1" i="0">
                <a:solidFill>
                  <a:srgbClr val="F5F7F8"/>
                </a:solidFill>
                <a:latin typeface="Aptos"/>
              </a:rPr>
              <a:t>DISPATCH WITH 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5815584"/>
            <a:ext cx="10744200" cy="0"/>
          </a:xfrm>
          <a:prstGeom prst="line">
            <a:avLst/>
          </a:prstGeom>
          <a:ln w="8255">
            <a:solidFill>
              <a:srgbClr val="F5F7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961888"/>
            <a:ext cx="8961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BEC7CB"/>
                </a:solidFill>
                <a:latin typeface="Aptos"/>
              </a:rPr>
              <a:t>AI AMBULANCE-TO-HOSPITAL COORDINATOR / SrijanX · IBM WATSONX.AI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8208" y="5961888"/>
            <a:ext cx="6675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F5F7F8"/>
                </a:solidFill>
                <a:latin typeface="Apto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4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155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996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36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677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3580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1985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0390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8795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5604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009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2414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7628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033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44383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28431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8057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6462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4867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167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08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848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689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2004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70408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08813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47218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856231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24028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62432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00837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39242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7647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6052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4456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2861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1266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69671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080759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464807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6848855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235440" y="-502920"/>
            <a:ext cx="2057400" cy="2057400"/>
          </a:xfrm>
          <a:prstGeom prst="ellipse">
            <a:avLst/>
          </a:prstGeom>
          <a:noFill/>
          <a:ln w="6985">
            <a:solidFill>
              <a:srgbClr val="505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641080" y="-822960"/>
            <a:ext cx="2743200" cy="2743200"/>
          </a:xfrm>
          <a:prstGeom prst="ellipse">
            <a:avLst/>
          </a:prstGeom>
          <a:noFill/>
          <a:ln w="6985">
            <a:solidFill>
              <a:srgbClr val="505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438912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5F7F8"/>
                </a:solidFill>
                <a:latin typeface="Aptos"/>
              </a:rPr>
              <a:t>THE PROBLEM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1520" y="6272784"/>
            <a:ext cx="1074420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6391656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BEC7CB"/>
                </a:solidFill>
                <a:latin typeface="Aptos"/>
              </a:rPr>
              <a:t>AI AMBULANCE-TO-HOSPITAL COORDINATOR / SrijanX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6391656"/>
            <a:ext cx="6675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F5F7F8"/>
                </a:solidFill>
                <a:latin typeface="Aptos"/>
              </a:rPr>
              <a:t>02 / 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868680"/>
            <a:ext cx="10332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F5F7F8"/>
                </a:solidFill>
                <a:latin typeface="Aptos Display"/>
              </a:rPr>
              <a:t>Nearest is not the same as best.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1581912"/>
            <a:ext cx="87782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 i="0">
                <a:solidFill>
                  <a:srgbClr val="BEC7CB"/>
                </a:solidFill>
                <a:latin typeface="Aptos"/>
              </a:rPr>
              <a:t>Emergency dispatchers and ambulance crews must pick a destination under time pressure. ED coordinators and hospital operations teams feel the effects when capacity is not reserved consistently.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31520" y="2212848"/>
            <a:ext cx="475488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31520" y="2542032"/>
            <a:ext cx="457200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50" b="0" i="0">
                <a:solidFill>
                  <a:srgbClr val="F5F7F8"/>
                </a:solidFill>
                <a:latin typeface="Aptos"/>
              </a:rPr>
              <a:t>A nearest-hospital rule can be fast to calculate — and still slow to treat.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2505456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F5F7F8"/>
                </a:solidFill>
                <a:latin typeface="Aptos"/>
              </a:rPr>
              <a:t>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2944368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 i="0">
                <a:solidFill>
                  <a:srgbClr val="F5F7F8"/>
                </a:solidFill>
                <a:latin typeface="Aptos"/>
              </a:rPr>
              <a:t>WHO HAS THIS PROBLEM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3355848"/>
            <a:ext cx="132588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BEC7CB"/>
                </a:solidFill>
                <a:latin typeface="Aptos"/>
              </a:rPr>
              <a:t>Dispatchers and ambulance crews choosing a destination under pressure.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8431" y="2505456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F5F7F8"/>
                </a:solidFill>
                <a:latin typeface="Aptos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28431" y="2944368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 i="0">
                <a:solidFill>
                  <a:srgbClr val="F5F7F8"/>
                </a:solidFill>
                <a:latin typeface="Aptos"/>
              </a:rPr>
              <a:t>WHAT GOES WRONG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28431" y="3355848"/>
            <a:ext cx="132588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BEC7CB"/>
                </a:solidFill>
                <a:latin typeface="Aptos"/>
              </a:rPr>
              <a:t>No ICU capacity, no on-duty specialist, or a slower route under current traffic.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10344" y="2505456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F5F7F8"/>
                </a:solidFill>
                <a:latin typeface="Aptos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10344" y="2944368"/>
            <a:ext cx="14173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 i="0">
                <a:solidFill>
                  <a:srgbClr val="F5F7F8"/>
                </a:solidFill>
                <a:latin typeface="Aptos"/>
              </a:rPr>
              <a:t>WHY IT MATTERS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10344" y="3355848"/>
            <a:ext cx="132588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BEC7CB"/>
                </a:solidFill>
                <a:latin typeface="Aptos"/>
              </a:rPr>
              <a:t>Treatment delay, avoidable rerouting, and a free bed consumed by the wrong trip.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590288"/>
            <a:ext cx="36576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 i="0">
                <a:solidFill>
                  <a:srgbClr val="F5F7F8"/>
                </a:solidFill>
                <a:latin typeface="Aptos"/>
              </a:rPr>
              <a:t>SAME INCIDENT, TWO DECISIONS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4882896"/>
            <a:ext cx="5074920" cy="914400"/>
          </a:xfrm>
          <a:prstGeom prst="rect">
            <a:avLst/>
          </a:prstGeom>
          <a:solidFill>
            <a:srgbClr val="040507"/>
          </a:solidFill>
          <a:ln w="8890">
            <a:solidFill>
              <a:srgbClr val="E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60120" y="5084064"/>
            <a:ext cx="25603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F8080"/>
                </a:solidFill>
                <a:latin typeface="Aptos"/>
              </a:rPr>
              <a:t>✕  NEAREST HOSPITAL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" y="5376672"/>
            <a:ext cx="44805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30" b="0" i="0">
                <a:solidFill>
                  <a:srgbClr val="BEC7CB"/>
                </a:solidFill>
                <a:latin typeface="Aptos"/>
              </a:rPr>
              <a:t>0 ICU beds free · no cardiologist on duty · fastest to reach, slowest to treat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53328" y="4882896"/>
            <a:ext cx="5422392" cy="914400"/>
          </a:xfrm>
          <a:prstGeom prst="rect">
            <a:avLst/>
          </a:prstGeom>
          <a:solidFill>
            <a:srgbClr val="0E212E"/>
          </a:solidFill>
          <a:ln w="8890">
            <a:solidFill>
              <a:srgbClr val="8BD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91072" y="5084064"/>
            <a:ext cx="301752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8BDFB5"/>
                </a:solidFill>
                <a:latin typeface="Aptos"/>
              </a:rPr>
              <a:t>✓  BEST-FIT HOSPITAL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91072" y="5376672"/>
            <a:ext cx="4754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30" b="0" i="0">
                <a:solidFill>
                  <a:srgbClr val="BEC7CB"/>
                </a:solidFill>
                <a:latin typeface="Aptos"/>
              </a:rPr>
              <a:t>ICU available · cardiologist on duty · a few minutes further, first to actually treat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155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996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36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677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3580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1985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0390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8795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5604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009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2414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7628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033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44383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28431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8057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6462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4867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167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08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848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689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2004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70408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08813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47218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856231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24028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62432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00837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39242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7647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6052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4456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2861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1266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69671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080759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464807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6848855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1520" y="438912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5F7F8"/>
                </a:solidFill>
                <a:latin typeface="Aptos"/>
              </a:rPr>
              <a:t>THE SOLUTION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31520" y="6272784"/>
            <a:ext cx="1074420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0" y="6391656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BEC7CB"/>
                </a:solidFill>
                <a:latin typeface="Aptos"/>
              </a:rPr>
              <a:t>AI AMBULANCE-TO-HOSPITAL COORDINATOR / SrijanX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08208" y="6391656"/>
            <a:ext cx="6675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F5F7F8"/>
                </a:solidFill>
                <a:latin typeface="Aptos"/>
              </a:rPr>
              <a:t>03 / 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868680"/>
            <a:ext cx="10332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0" i="0">
                <a:solidFill>
                  <a:srgbClr val="F5F7F8"/>
                </a:solidFill>
                <a:latin typeface="Aptos Display"/>
              </a:rPr>
              <a:t>From incident to explained recommendation.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1581912"/>
            <a:ext cx="102412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 i="0">
                <a:solidFill>
                  <a:srgbClr val="BEC7CB"/>
                </a:solidFill>
                <a:latin typeface="Aptos"/>
              </a:rPr>
              <a:t>A browser dashboard backed by a FastAPI service turns an incident's condition and live hospital data into a ranked, reasoned destination — then reserves capacity and pre-alerts the hospital.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2697480"/>
            <a:ext cx="3246120" cy="2148840"/>
          </a:xfrm>
          <a:prstGeom prst="rect">
            <a:avLst/>
          </a:prstGeom>
          <a:solidFill>
            <a:srgbClr val="0A1924"/>
          </a:solidFill>
          <a:ln w="10160">
            <a:solidFill>
              <a:srgbClr val="78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2688" y="2907792"/>
            <a:ext cx="2788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F5F7F8"/>
                </a:solidFill>
                <a:latin typeface="Aptos"/>
              </a:rPr>
              <a:t>01 / INCIDENT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" y="3310128"/>
            <a:ext cx="276148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20" b="0" i="0">
                <a:solidFill>
                  <a:srgbClr val="F5F7F8"/>
                </a:solidFill>
                <a:latin typeface="Aptos Display"/>
              </a:rPr>
              <a:t>Capture the situation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4005072"/>
            <a:ext cx="2761488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 i="0">
                <a:solidFill>
                  <a:srgbClr val="BEC7CB"/>
                </a:solidFill>
                <a:latin typeface="Aptos"/>
              </a:rPr>
              <a:t>The dispatcher records the incident and suspected condition, with optional free-text AI triage assist.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87368" y="3511296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0" i="0">
                <a:solidFill>
                  <a:srgbClr val="F5F7F8"/>
                </a:solidFill>
                <a:latin typeface="Aptos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59" y="2697480"/>
            <a:ext cx="3246120" cy="2148840"/>
          </a:xfrm>
          <a:prstGeom prst="rect">
            <a:avLst/>
          </a:prstGeom>
          <a:solidFill>
            <a:srgbClr val="0E212E"/>
          </a:solidFill>
          <a:ln w="10160">
            <a:solidFill>
              <a:srgbClr val="75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681727" y="2907792"/>
            <a:ext cx="2788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75DEDF"/>
                </a:solidFill>
                <a:latin typeface="Aptos"/>
              </a:rPr>
              <a:t>02 / COORDINATOR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81727" y="3310128"/>
            <a:ext cx="276148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20" b="0" i="0">
                <a:solidFill>
                  <a:srgbClr val="F5F7F8"/>
                </a:solidFill>
                <a:latin typeface="Aptos Display"/>
              </a:rPr>
              <a:t>Filter, score, explain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81727" y="4005072"/>
            <a:ext cx="2761488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 i="0">
                <a:solidFill>
                  <a:srgbClr val="BEC7CB"/>
                </a:solidFill>
                <a:latin typeface="Aptos"/>
              </a:rPr>
              <a:t>Hard constraints remove unsafe choices. Viable hospitals are ranked on ETA, capacity, specialist match, and wait time.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36408" y="3511296"/>
            <a:ext cx="182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0" i="0">
                <a:solidFill>
                  <a:srgbClr val="F5F7F8"/>
                </a:solidFill>
                <a:latin typeface="Aptos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9600" y="2697480"/>
            <a:ext cx="3246120" cy="2148840"/>
          </a:xfrm>
          <a:prstGeom prst="rect">
            <a:avLst/>
          </a:prstGeom>
          <a:solidFill>
            <a:srgbClr val="0A1924"/>
          </a:solidFill>
          <a:ln w="10160">
            <a:solidFill>
              <a:srgbClr val="78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0768" y="2907792"/>
            <a:ext cx="2788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F5F7F8"/>
                </a:solidFill>
                <a:latin typeface="Aptos"/>
              </a:rPr>
              <a:t>03 / ACTION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30768" y="3310128"/>
            <a:ext cx="276148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20" b="0" i="0">
                <a:solidFill>
                  <a:srgbClr val="F5F7F8"/>
                </a:solidFill>
                <a:latin typeface="Aptos Display"/>
              </a:rPr>
              <a:t>Reserve and pre-alert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30768" y="4005072"/>
            <a:ext cx="2761488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 i="0">
                <a:solidFill>
                  <a:srgbClr val="BEC7CB"/>
                </a:solidFill>
                <a:latin typeface="Aptos"/>
              </a:rPr>
              <a:t>The dispatcher accepts a recommendation, reserves capacity, and notifies the hospital before arrival.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5230368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 i="0">
                <a:solidFill>
                  <a:srgbClr val="75DEDF"/>
                </a:solidFill>
                <a:latin typeface="Aptos"/>
              </a:rPr>
              <a:t>THE DIFFERENCE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5504688"/>
            <a:ext cx="9326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b="0" i="0">
                <a:solidFill>
                  <a:srgbClr val="F5F7F8"/>
                </a:solidFill>
                <a:latin typeface="Aptos"/>
              </a:rPr>
              <a:t>Fastest expected treatment — not shortest distance. Every candidate gets a reason, not just a rank.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155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996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36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677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3580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1985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0390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8795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5604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009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2414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7628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033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44383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28431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8057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6462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4867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167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08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848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689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2004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70408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08813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47218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856231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24028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62432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00837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39242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7647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6052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4456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2861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1266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69671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080759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464807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6848855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1520" y="438912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5F7F8"/>
                </a:solidFill>
                <a:latin typeface="Aptos"/>
              </a:rPr>
              <a:t>KEY FEATURE · IBM WATSONX.AI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31520" y="6272784"/>
            <a:ext cx="1074420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0" y="6391656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BEC7CB"/>
                </a:solidFill>
                <a:latin typeface="Aptos"/>
              </a:rPr>
              <a:t>AI AMBULANCE-TO-HOSPITAL COORDINATOR / SrijanX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08208" y="6391656"/>
            <a:ext cx="6675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F5F7F8"/>
                </a:solidFill>
                <a:latin typeface="Aptos"/>
              </a:rPr>
              <a:t>04 / 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868680"/>
            <a:ext cx="10332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0" i="0">
                <a:solidFill>
                  <a:srgbClr val="F5F7F8"/>
                </a:solidFill>
                <a:latin typeface="Aptos Display"/>
              </a:rPr>
              <a:t>AI Triage Assist, powered by IBM Granite.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1581912"/>
            <a:ext cx="10149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 i="0">
                <a:solidFill>
                  <a:srgbClr val="BEC7CB"/>
                </a:solidFill>
                <a:latin typeface="Aptos"/>
              </a:rPr>
              <a:t>A dispatcher can type a short free-text note instead of hunting through a dropdown under pressure. The model suggests a condition code; the dispatcher still reviews it before anything reaches the recommendation engine.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2743200"/>
            <a:ext cx="4343400" cy="1481328"/>
          </a:xfrm>
          <a:prstGeom prst="rect">
            <a:avLst/>
          </a:prstGeom>
          <a:solidFill>
            <a:srgbClr val="0E212E"/>
          </a:solidFill>
          <a:ln w="8890">
            <a:solidFill>
              <a:srgbClr val="78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0120" y="2962656"/>
            <a:ext cx="20116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 i="0">
                <a:solidFill>
                  <a:srgbClr val="F5F7F8"/>
                </a:solidFill>
                <a:latin typeface="Aptos"/>
              </a:rPr>
              <a:t>DISPATCHER NOTE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" y="3346704"/>
            <a:ext cx="365760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F5F7F8"/>
                </a:solidFill>
                <a:latin typeface="Aptos"/>
              </a:rPr>
              <a:t>“58yo male, sudden chest pain
and shortness of breath”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4005072"/>
            <a:ext cx="32918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75DEDF"/>
                </a:solidFill>
                <a:latin typeface="Aptos"/>
              </a:rPr>
              <a:t>↓  IBM GRANITE CLASSIFIES THE NOTE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76088" y="3355848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500" b="0" i="0">
                <a:solidFill>
                  <a:srgbClr val="75DEDF"/>
                </a:solidFill>
                <a:latin typeface="Aptos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7880" y="2743200"/>
            <a:ext cx="5468112" cy="1481328"/>
          </a:xfrm>
          <a:prstGeom prst="rect">
            <a:avLst/>
          </a:prstGeom>
          <a:solidFill>
            <a:srgbClr val="040507"/>
          </a:solidFill>
          <a:ln w="8890">
            <a:solidFill>
              <a:srgbClr val="75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44768" y="2971800"/>
            <a:ext cx="320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8BDFB5"/>
                </a:solidFill>
                <a:latin typeface="Aptos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2990088"/>
            <a:ext cx="4343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5F7F8"/>
                </a:solidFill>
                <a:latin typeface="Aptos"/>
              </a:rPr>
              <a:t>SUSPECTED HEART ATTACK / CARDIAC EVENT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438144"/>
            <a:ext cx="4297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0" b="0" i="0">
                <a:solidFill>
                  <a:srgbClr val="75DEDF"/>
                </a:solidFill>
                <a:latin typeface="Aptos"/>
              </a:rPr>
              <a:t>Confidence 0.82 · source: watsonx_granite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3767328"/>
            <a:ext cx="4251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 i="1">
                <a:solidFill>
                  <a:srgbClr val="BEC7CB"/>
                </a:solidFill>
                <a:latin typeface="Aptos"/>
              </a:rPr>
              <a:t>“Chest pain with breathlessness matches the cardiac-event profile.”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31520" y="4700016"/>
            <a:ext cx="3246119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31520" y="491947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F5F7F8"/>
                </a:solidFill>
                <a:latin typeface="Aptos"/>
              </a:rPr>
              <a:t>HUMAN STAYS IN THE LOOP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5276088"/>
            <a:ext cx="32461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BEC7CB"/>
                </a:solidFill>
                <a:latin typeface="Aptos"/>
              </a:rPr>
              <a:t>The suggestion pre-fills the condition field. The dispatcher confirms or overrides it; it never selects a hospital.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462272" y="4700016"/>
            <a:ext cx="324612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462272" y="491947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F5F7F8"/>
                </a:solidFill>
                <a:latin typeface="Aptos"/>
              </a:rPr>
              <a:t>NEVER A HARD DEPENDENCY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62272" y="5276088"/>
            <a:ext cx="32461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BEC7CB"/>
                </a:solidFill>
                <a:latin typeface="Aptos"/>
              </a:rPr>
              <a:t>No watsonx.ai credentials? The service falls back to a transparent keyword classifier, so the demo always runs.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193024" y="4700016"/>
            <a:ext cx="324612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193024" y="4919472"/>
            <a:ext cx="3291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F5F7F8"/>
                </a:solidFill>
                <a:latin typeface="Aptos"/>
              </a:rPr>
              <a:t>ALWAYS LABELED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93024" y="5276088"/>
            <a:ext cx="324612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BEC7CB"/>
                </a:solidFill>
                <a:latin typeface="Aptos"/>
              </a:rPr>
              <a:t>Every suggestion states whether it came from watsonx_granite or keyword_fallback.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4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155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996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36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677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3580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1985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0390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8795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5604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009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2414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7628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033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44383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28431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8057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6462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4867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167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08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848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689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2004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70408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08813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47218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856231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24028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62432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00837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39242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7647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6052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4456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2861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1266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69671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080759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464807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6848855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235440" y="-502920"/>
            <a:ext cx="2057400" cy="2057400"/>
          </a:xfrm>
          <a:prstGeom prst="ellipse">
            <a:avLst/>
          </a:prstGeom>
          <a:noFill/>
          <a:ln w="6985">
            <a:solidFill>
              <a:srgbClr val="505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641080" y="-822960"/>
            <a:ext cx="2743200" cy="2743200"/>
          </a:xfrm>
          <a:prstGeom prst="ellipse">
            <a:avLst/>
          </a:prstGeom>
          <a:noFill/>
          <a:ln w="6985">
            <a:solidFill>
              <a:srgbClr val="505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438912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5F7F8"/>
                </a:solidFill>
                <a:latin typeface="Aptos"/>
              </a:rPr>
              <a:t>ARCHITECTURE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1520" y="6272784"/>
            <a:ext cx="1074420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6391656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BEC7CB"/>
                </a:solidFill>
                <a:latin typeface="Aptos"/>
              </a:rPr>
              <a:t>AI AMBULANCE-TO-HOSPITAL COORDINATOR / SrijanX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6391656"/>
            <a:ext cx="6675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F5F7F8"/>
                </a:solidFill>
                <a:latin typeface="Aptos"/>
              </a:rPr>
              <a:t>05 / 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868680"/>
            <a:ext cx="10332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 i="0">
                <a:solidFill>
                  <a:srgbClr val="F5F7F8"/>
                </a:solidFill>
                <a:latin typeface="Aptos Display"/>
              </a:rPr>
              <a:t>How the system works, technically.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1581912"/>
            <a:ext cx="93268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 i="0">
                <a:solidFill>
                  <a:srgbClr val="BEC7CB"/>
                </a:solidFill>
                <a:latin typeface="Aptos"/>
              </a:rPr>
              <a:t>A browser dashboard talks to a FastAPI application that keeps recommendations, reservations, trips, and audit events in sync.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2468880"/>
            <a:ext cx="3246120" cy="1664208"/>
          </a:xfrm>
          <a:prstGeom prst="rect">
            <a:avLst/>
          </a:prstGeom>
          <a:solidFill>
            <a:srgbClr val="040507"/>
          </a:solidFill>
          <a:ln w="8890">
            <a:solidFill>
              <a:srgbClr val="78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400" y="2670048"/>
            <a:ext cx="2834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F5F7F8"/>
                </a:solidFill>
                <a:latin typeface="Aptos"/>
              </a:rPr>
              <a:t>01 / INTERFACE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3017520"/>
            <a:ext cx="265176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5F7F8"/>
                </a:solidFill>
                <a:latin typeface="Aptos"/>
              </a:rPr>
              <a:t>Dispatcher
browser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3767328"/>
            <a:ext cx="2788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BEC7CB"/>
                </a:solidFill>
                <a:latin typeface="Aptos"/>
              </a:rPr>
              <a:t>HTTPS + WebSocket
Static HTML · CSS · JavaScript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87368" y="3163824"/>
            <a:ext cx="182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0" i="0">
                <a:solidFill>
                  <a:srgbClr val="F5F7F8"/>
                </a:solidFill>
                <a:latin typeface="Aptos"/>
              </a:rPr>
              <a:t>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59" y="2468880"/>
            <a:ext cx="3246120" cy="1664208"/>
          </a:xfrm>
          <a:prstGeom prst="rect">
            <a:avLst/>
          </a:prstGeom>
          <a:solidFill>
            <a:srgbClr val="040507"/>
          </a:solidFill>
          <a:ln w="8890">
            <a:solidFill>
              <a:srgbClr val="78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663440" y="2670048"/>
            <a:ext cx="2834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F5F7F8"/>
                </a:solidFill>
                <a:latin typeface="Aptos"/>
              </a:rPr>
              <a:t>02 / ORCHESTRATION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017520"/>
            <a:ext cx="265176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5F7F8"/>
                </a:solidFill>
                <a:latin typeface="Aptos"/>
              </a:rPr>
              <a:t>FastAPI
application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0" y="3767328"/>
            <a:ext cx="2788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BEC7CB"/>
                </a:solidFill>
                <a:latin typeface="Aptos"/>
              </a:rPr>
              <a:t>Recommendation engine
Constraint filter + weighted scoring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36408" y="3163824"/>
            <a:ext cx="182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0" i="0">
                <a:solidFill>
                  <a:srgbClr val="F5F7F8"/>
                </a:solidFill>
                <a:latin typeface="Aptos"/>
              </a:rPr>
              <a:t>›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2468880"/>
            <a:ext cx="3246120" cy="1664208"/>
          </a:xfrm>
          <a:prstGeom prst="rect">
            <a:avLst/>
          </a:prstGeom>
          <a:solidFill>
            <a:srgbClr val="040507"/>
          </a:solidFill>
          <a:ln w="8890">
            <a:solidFill>
              <a:srgbClr val="78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12480" y="2670048"/>
            <a:ext cx="2834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F5F7F8"/>
                </a:solidFill>
                <a:latin typeface="Aptos"/>
              </a:rPr>
              <a:t>03 / STATE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3017520"/>
            <a:ext cx="265176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5F7F8"/>
                </a:solidFill>
                <a:latin typeface="Aptos"/>
              </a:rPr>
              <a:t>Live trip &amp;
hospital state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0" y="3767328"/>
            <a:ext cx="2788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9" b="0" i="0">
                <a:solidFill>
                  <a:srgbClr val="BEC7CB"/>
                </a:solidFill>
                <a:latin typeface="Aptos"/>
              </a:rPr>
              <a:t>In-process memory
WebSocket broadcasts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31520" y="4645152"/>
            <a:ext cx="3246119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31520" y="4800600"/>
            <a:ext cx="301752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0" b="1" i="0">
                <a:solidFill>
                  <a:srgbClr val="F5F7F8"/>
                </a:solidFill>
                <a:latin typeface="Aptos"/>
              </a:rPr>
              <a:t>ETA SERVICE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06577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5F7F8"/>
                </a:solidFill>
                <a:latin typeface="Aptos"/>
              </a:rPr>
              <a:t>Traffic-aware travel time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376672"/>
            <a:ext cx="31089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0" i="0">
                <a:solidFill>
                  <a:srgbClr val="BEC7CB"/>
                </a:solidFill>
                <a:latin typeface="Aptos"/>
              </a:rPr>
              <a:t>Google Maps / Mapbox or deterministic simulated fallback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480559" y="4645152"/>
            <a:ext cx="324612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480559" y="4800600"/>
            <a:ext cx="301752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0" b="1" i="0">
                <a:solidFill>
                  <a:srgbClr val="F5F7F8"/>
                </a:solidFill>
                <a:latin typeface="Aptos"/>
              </a:rPr>
              <a:t>TRIAGE ASSIST SERVICE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0559" y="506577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5F7F8"/>
                </a:solidFill>
                <a:latin typeface="Aptos"/>
              </a:rPr>
              <a:t>IBM watsonx.ai (Granite)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80559" y="5376672"/>
            <a:ext cx="31089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0" i="0">
                <a:solidFill>
                  <a:srgbClr val="BEC7CB"/>
                </a:solidFill>
                <a:latin typeface="Aptos"/>
              </a:rPr>
              <a:t>or keyword fallback classifier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229600" y="4645152"/>
            <a:ext cx="324612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229600" y="4800600"/>
            <a:ext cx="301752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0" b="1" i="0">
                <a:solidFill>
                  <a:srgbClr val="F5F7F8"/>
                </a:solidFill>
                <a:latin typeface="Aptos"/>
              </a:rPr>
              <a:t>AUDIT STORE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5065776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F5F7F8"/>
                </a:solidFill>
                <a:latin typeface="Aptos"/>
              </a:rPr>
              <a:t>SQLAlchemy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0" y="5376672"/>
            <a:ext cx="31089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10" b="0" i="0">
                <a:solidFill>
                  <a:srgbClr val="BEC7CB"/>
                </a:solidFill>
                <a:latin typeface="Aptos"/>
              </a:rPr>
              <a:t>SQLite / PostgreSQL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5806440"/>
            <a:ext cx="9875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80" b="0" i="0">
                <a:solidFill>
                  <a:srgbClr val="BEC7CB"/>
                </a:solidFill>
                <a:latin typeface="Aptos"/>
              </a:rPr>
              <a:t>Secrets stay in environment variables · optional access token, CORS allow-list, and rate limiting protect the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4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155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996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36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677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3580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1985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0390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8795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5604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009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2414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7628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033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44383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28431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8057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6462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4867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167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08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848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689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2004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70408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08813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47218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856231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24028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62432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00837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39242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7647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6052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4456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2861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1266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69671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080759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464807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6848855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235440" y="-502920"/>
            <a:ext cx="2057400" cy="2057400"/>
          </a:xfrm>
          <a:prstGeom prst="ellipse">
            <a:avLst/>
          </a:prstGeom>
          <a:noFill/>
          <a:ln w="6985">
            <a:solidFill>
              <a:srgbClr val="505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641080" y="-822960"/>
            <a:ext cx="2743200" cy="2743200"/>
          </a:xfrm>
          <a:prstGeom prst="ellipse">
            <a:avLst/>
          </a:prstGeom>
          <a:noFill/>
          <a:ln w="6985">
            <a:solidFill>
              <a:srgbClr val="505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438912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5F7F8"/>
                </a:solidFill>
                <a:latin typeface="Aptos"/>
              </a:rPr>
              <a:t>KEY FEATURE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1520" y="6272784"/>
            <a:ext cx="1074420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6391656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BEC7CB"/>
                </a:solidFill>
                <a:latin typeface="Aptos"/>
              </a:rPr>
              <a:t>AI AMBULANCE-TO-HOSPITAL COORDINATOR / SrijanX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6391656"/>
            <a:ext cx="6675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F5F7F8"/>
                </a:solidFill>
                <a:latin typeface="Aptos"/>
              </a:rPr>
              <a:t>06 / 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868680"/>
            <a:ext cx="10332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 i="0">
                <a:solidFill>
                  <a:srgbClr val="F5F7F8"/>
                </a:solidFill>
                <a:latin typeface="Aptos Display"/>
              </a:rPr>
              <a:t>Explainable, not black-box.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1581912"/>
            <a:ext cx="94183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 i="0">
                <a:solidFill>
                  <a:srgbClr val="BEC7CB"/>
                </a:solidFill>
                <a:latin typeface="Aptos"/>
              </a:rPr>
              <a:t>Every candidate hospital returns a reason — disqualified or ranked — so a dispatcher can see and trust the call, not just receive it.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2240280"/>
            <a:ext cx="4297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1" i="0">
                <a:solidFill>
                  <a:srgbClr val="F5F7F8"/>
                </a:solidFill>
                <a:latin typeface="Aptos"/>
              </a:rPr>
              <a:t>CARDIAC INCIDENT · HOSPITAL COMPARISON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2578608"/>
            <a:ext cx="10744200" cy="676656"/>
          </a:xfrm>
          <a:prstGeom prst="rect">
            <a:avLst/>
          </a:prstGeom>
          <a:solidFill>
            <a:srgbClr val="040507"/>
          </a:solidFill>
          <a:ln w="8890">
            <a:solidFill>
              <a:srgbClr val="E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7552" y="2724912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60" b="1" i="0">
                <a:solidFill>
                  <a:srgbClr val="F5F7F8"/>
                </a:solidFill>
                <a:latin typeface="Aptos"/>
              </a:rPr>
              <a:t>SUNRISE GENERAL HOSPITAL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86200" y="2724912"/>
            <a:ext cx="4572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30" b="0" i="0">
                <a:solidFill>
                  <a:srgbClr val="BEC7CB"/>
                </a:solidFill>
                <a:latin typeface="Aptos"/>
              </a:rPr>
              <a:t>0 ICU beds free — hard constraint not met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15400" y="2724912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EF8080"/>
                </a:solidFill>
                <a:latin typeface="Aptos"/>
              </a:rPr>
              <a:t>DISQUALIFIED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3438144"/>
            <a:ext cx="10744200" cy="676656"/>
          </a:xfrm>
          <a:prstGeom prst="rect">
            <a:avLst/>
          </a:prstGeom>
          <a:solidFill>
            <a:srgbClr val="0E212E"/>
          </a:solidFill>
          <a:ln w="8890">
            <a:solidFill>
              <a:srgbClr val="8BD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87552" y="3584448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60" b="1" i="0">
                <a:solidFill>
                  <a:srgbClr val="F5F7F8"/>
                </a:solidFill>
                <a:latin typeface="Aptos"/>
              </a:rPr>
              <a:t>RIVERSIDE MEDICAL CENTER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6200" y="3584448"/>
            <a:ext cx="4572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30" b="0" i="0">
                <a:solidFill>
                  <a:srgbClr val="BEC7CB"/>
                </a:solidFill>
                <a:latin typeface="Aptos"/>
              </a:rPr>
              <a:t>ICU available · cardiologist on duty · ETA 8 min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15400" y="3584448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8BDFB5"/>
                </a:solidFill>
                <a:latin typeface="Aptos"/>
              </a:rPr>
              <a:t>RECOMMENDED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8480" y="3520439"/>
            <a:ext cx="4754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000" b="1" i="0">
                <a:solidFill>
                  <a:srgbClr val="8BDFB5"/>
                </a:solidFill>
                <a:latin typeface="Aptos"/>
              </a:rPr>
              <a:t>92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4297679"/>
            <a:ext cx="10744200" cy="676656"/>
          </a:xfrm>
          <a:prstGeom prst="rect">
            <a:avLst/>
          </a:prstGeom>
          <a:solidFill>
            <a:srgbClr val="040507"/>
          </a:solidFill>
          <a:ln w="8890">
            <a:solidFill>
              <a:srgbClr val="F1B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87552" y="4443983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60" b="1" i="0">
                <a:solidFill>
                  <a:srgbClr val="F5F7F8"/>
                </a:solidFill>
                <a:latin typeface="Aptos"/>
              </a:rPr>
              <a:t>LAKEVIEW HOSPITAL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86200" y="4443983"/>
            <a:ext cx="4572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30" b="0" i="0">
                <a:solidFill>
                  <a:srgbClr val="BEC7CB"/>
                </a:solidFill>
                <a:latin typeface="Aptos"/>
              </a:rPr>
              <a:t>ICU available · ETA 14 min · no specialist match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15400" y="4443983"/>
            <a:ext cx="1554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F1BE6D"/>
                </a:solidFill>
                <a:latin typeface="Aptos"/>
              </a:rPr>
              <a:t>VIABLE, RANKED #2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98480" y="4379975"/>
            <a:ext cx="475488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000" b="1" i="0">
                <a:solidFill>
                  <a:srgbClr val="F1BE6D"/>
                </a:solidFill>
                <a:latin typeface="Aptos"/>
              </a:rPr>
              <a:t>74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5440680"/>
            <a:ext cx="3200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 i="0">
                <a:solidFill>
                  <a:srgbClr val="F5F7F8"/>
                </a:solidFill>
                <a:latin typeface="Aptos"/>
              </a:rPr>
              <a:t>ILLUSTRATIVE REASONING OUTPUT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715000"/>
            <a:ext cx="8229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60" b="0" i="0">
                <a:solidFill>
                  <a:srgbClr val="BEC7CB"/>
                </a:solidFill>
                <a:latin typeface="Aptos"/>
              </a:rPr>
              <a:t>Modeled on the recommendation engine's actual scoring inputs: ICU, ED load, specialist match, and ETA.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155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996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36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677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3580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1985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0390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8795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5604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009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2414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7628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033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44383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28431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8057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6462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4867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167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08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848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689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2004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70408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08813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47218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856231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24028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62432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00837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39242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7647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6052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4456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2861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1266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69671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080759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464807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6848855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1520" y="438912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5F7F8"/>
                </a:solidFill>
                <a:latin typeface="Aptos"/>
              </a:rPr>
              <a:t>IBM TECHNOLOGIES / RESULTS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31520" y="6272784"/>
            <a:ext cx="1074420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0" y="6391656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BEC7CB"/>
                </a:solidFill>
                <a:latin typeface="Aptos"/>
              </a:rPr>
              <a:t>AI AMBULANCE-TO-HOSPITAL COORDINATOR / SrijanX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08208" y="6391656"/>
            <a:ext cx="6675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F5F7F8"/>
                </a:solidFill>
                <a:latin typeface="Aptos"/>
              </a:rPr>
              <a:t>07 / 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868680"/>
            <a:ext cx="10332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0" i="0">
                <a:solidFill>
                  <a:srgbClr val="F5F7F8"/>
                </a:solidFill>
                <a:latin typeface="Aptos Display"/>
              </a:rPr>
              <a:t>Real IBM integration, honestly scoped.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1581912"/>
            <a:ext cx="98755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 i="0">
                <a:solidFill>
                  <a:srgbClr val="BEC7CB"/>
                </a:solidFill>
                <a:latin typeface="Aptos"/>
              </a:rPr>
              <a:t>The prototype shows one IBM integration that genuinely runs, with a transparent fallback and clear seams for production expansion.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2487168"/>
            <a:ext cx="5230368" cy="2121408"/>
          </a:xfrm>
          <a:prstGeom prst="rect">
            <a:avLst/>
          </a:prstGeom>
          <a:solidFill>
            <a:srgbClr val="0E212E"/>
          </a:solidFill>
          <a:ln w="8890">
            <a:solidFill>
              <a:srgbClr val="78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7552" y="274320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5F7F8"/>
                </a:solidFill>
                <a:latin typeface="Aptos"/>
              </a:rPr>
              <a:t>USED TODAY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" y="3127248"/>
            <a:ext cx="448056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5F7F8"/>
                </a:solidFill>
                <a:latin typeface="Aptos"/>
              </a:rPr>
              <a:t>IBM watsonx.ai — Granite model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" y="3675887"/>
            <a:ext cx="443484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 i="0">
                <a:solidFill>
                  <a:srgbClr val="BEC7CB"/>
                </a:solidFill>
                <a:latin typeface="Aptos"/>
              </a:rPr>
              <a:t>Powers AI Triage Assist: classifies a dispatcher’s free-text note into a suggested condition code. When credentials are absent, the labeled keyword classifier keeps the demo running.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2487168"/>
            <a:ext cx="5257800" cy="2121408"/>
          </a:xfrm>
          <a:prstGeom prst="rect">
            <a:avLst/>
          </a:prstGeom>
          <a:solidFill>
            <a:srgbClr val="040507"/>
          </a:solidFill>
          <a:ln w="8890">
            <a:solidFill>
              <a:srgbClr val="75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73952" y="2743200"/>
            <a:ext cx="4343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5F7F8"/>
                </a:solidFill>
                <a:latin typeface="Aptos"/>
              </a:rPr>
              <a:t>WHERE IBM FITS FURTHER IN PRODUCTION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3952" y="3182112"/>
            <a:ext cx="411480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5F7F8"/>
                </a:solidFill>
                <a:latin typeface="Aptos"/>
              </a:rPr>
              <a:t>Hospital system integration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3952" y="3493008"/>
            <a:ext cx="44348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 i="0">
                <a:solidFill>
                  <a:srgbClr val="BEC7CB"/>
                </a:solidFill>
                <a:latin typeface="Aptos"/>
              </a:rPr>
              <a:t>Connect real capacity and specialist data in place of simulated hospital state.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952" y="3913632"/>
            <a:ext cx="411480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F5F7F8"/>
                </a:solidFill>
                <a:latin typeface="Aptos"/>
              </a:rPr>
              <a:t>Managed IBM Cloud data store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3952" y="4224528"/>
            <a:ext cx="44348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 i="0">
                <a:solidFill>
                  <a:srgbClr val="BEC7CB"/>
                </a:solidFill>
                <a:latin typeface="Aptos"/>
              </a:rPr>
              <a:t>Move the SQLAlchemy audit layer to a durable shared store.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31520" y="4956048"/>
            <a:ext cx="3246119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31520" y="5138928"/>
            <a:ext cx="10972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0" i="0">
                <a:solidFill>
                  <a:srgbClr val="F5F7F8"/>
                </a:solidFill>
                <a:latin typeface="Aptos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83080" y="5166360"/>
            <a:ext cx="20574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BEC7CB"/>
                </a:solidFill>
                <a:latin typeface="Aptos"/>
              </a:rPr>
              <a:t>SIMULATED HOSPITALS SCORED PER REQUEST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462272" y="4956048"/>
            <a:ext cx="324612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462272" y="5138928"/>
            <a:ext cx="10972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0" i="0">
                <a:solidFill>
                  <a:srgbClr val="F5F7F8"/>
                </a:solidFill>
                <a:latin typeface="Aptos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13831" y="5166360"/>
            <a:ext cx="20574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BEC7CB"/>
                </a:solidFill>
                <a:latin typeface="Aptos"/>
              </a:rPr>
              <a:t>FACTORS WEIGHED — ICU, ED LOAD, SPECIALIST, ETA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193024" y="4956048"/>
            <a:ext cx="324612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193024" y="5138928"/>
            <a:ext cx="10972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0" i="0">
                <a:solidFill>
                  <a:srgbClr val="F5F7F8"/>
                </a:solidFill>
                <a:latin typeface="Aptos"/>
              </a:rP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4584" y="5166360"/>
            <a:ext cx="20574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BEC7CB"/>
                </a:solidFill>
                <a:latin typeface="Aptos"/>
              </a:rPr>
              <a:t>CANDIDATES RETURNED WITH A STATED REASON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5797296"/>
            <a:ext cx="4389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30" b="1" i="0">
                <a:solidFill>
                  <a:srgbClr val="F5F7F8"/>
                </a:solidFill>
                <a:latin typeface="Aptos"/>
              </a:rPr>
              <a:t>SUCCESS IN A PRODUCTION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405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7315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155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996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8836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677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5176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3580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1985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0390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8795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5604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4009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72414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0819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7628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6033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44383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28431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9652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8057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56462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94867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16768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0816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484864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68912" y="0"/>
            <a:ext cx="0" cy="685800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32004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70408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08813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47218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856231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24028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62432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300837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39242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7647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60520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44568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28616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12664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696712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080759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464807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6848855"/>
            <a:ext cx="12191999" cy="0"/>
          </a:xfrm>
          <a:prstGeom prst="line">
            <a:avLst/>
          </a:prstGeom>
          <a:ln w="4445">
            <a:solidFill>
              <a:srgbClr val="141C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235440" y="-502920"/>
            <a:ext cx="2057400" cy="2057400"/>
          </a:xfrm>
          <a:prstGeom prst="ellipse">
            <a:avLst/>
          </a:prstGeom>
          <a:noFill/>
          <a:ln w="6985">
            <a:solidFill>
              <a:srgbClr val="505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641080" y="-822960"/>
            <a:ext cx="2743200" cy="2743200"/>
          </a:xfrm>
          <a:prstGeom prst="ellipse">
            <a:avLst/>
          </a:prstGeom>
          <a:noFill/>
          <a:ln w="6985">
            <a:solidFill>
              <a:srgbClr val="505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438912"/>
            <a:ext cx="5760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F5F7F8"/>
                </a:solidFill>
                <a:latin typeface="Aptos"/>
              </a:rPr>
              <a:t>THE TEAM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1520" y="6272784"/>
            <a:ext cx="1074420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20" y="6391656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BEC7CB"/>
                </a:solidFill>
                <a:latin typeface="Aptos"/>
              </a:rPr>
              <a:t>AI AMBULANCE-TO-HOSPITAL COORDINATOR / SrijanX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8208" y="6391656"/>
            <a:ext cx="66751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19" b="1" i="0">
                <a:solidFill>
                  <a:srgbClr val="F5F7F8"/>
                </a:solidFill>
                <a:latin typeface="Aptos"/>
              </a:rPr>
              <a:t>08 / 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868680"/>
            <a:ext cx="103327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F5F7F8"/>
                </a:solidFill>
                <a:latin typeface="Aptos Display"/>
              </a:rPr>
              <a:t>Team SrijanX.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1581912"/>
            <a:ext cx="8229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 i="0">
                <a:solidFill>
                  <a:srgbClr val="BEC7CB"/>
                </a:solidFill>
                <a:latin typeface="Aptos"/>
              </a:rPr>
              <a:t>Track: AI  ·  CHARUSAT  ·  One working prototype, four complementary strengths.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2395728"/>
            <a:ext cx="5212080" cy="1078992"/>
          </a:xfrm>
          <a:prstGeom prst="rect">
            <a:avLst/>
          </a:prstGeom>
          <a:noFill/>
          <a:ln w="889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32688" y="2578608"/>
            <a:ext cx="54864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 dirty="0">
                <a:solidFill>
                  <a:schemeClr val="bg1"/>
                </a:solidFill>
                <a:latin typeface="Aptos Display"/>
              </a:rPr>
              <a:t>SP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45920" y="2560320"/>
            <a:ext cx="3474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60" b="1" i="0">
                <a:solidFill>
                  <a:srgbClr val="F5F7F8"/>
                </a:solidFill>
                <a:latin typeface="Aptos"/>
              </a:rPr>
              <a:t>Shaunak Patel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871216"/>
            <a:ext cx="3566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0" b="1" i="0">
                <a:solidFill>
                  <a:srgbClr val="BEC7CB"/>
                </a:solidFill>
                <a:latin typeface="Aptos"/>
              </a:rPr>
              <a:t>TEAM LEAD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45920" y="3108960"/>
            <a:ext cx="3977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BEC7CB"/>
                </a:solidFill>
                <a:latin typeface="Aptos"/>
              </a:rPr>
              <a:t>Team direction, submission strategy, IBM story, and final delivery.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91072" y="2395728"/>
            <a:ext cx="5212080" cy="1078992"/>
          </a:xfrm>
          <a:prstGeom prst="rect">
            <a:avLst/>
          </a:prstGeom>
          <a:solidFill>
            <a:srgbClr val="040507"/>
          </a:solidFill>
          <a:ln w="889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92240" y="2578608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7F8"/>
                </a:solidFill>
                <a:latin typeface="Aptos Display"/>
              </a:rPr>
              <a:t>AP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05472" y="2560320"/>
            <a:ext cx="3474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60" b="1" i="0">
                <a:solidFill>
                  <a:srgbClr val="F5F7F8"/>
                </a:solidFill>
                <a:latin typeface="Aptos"/>
              </a:rPr>
              <a:t>Abhi Patel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5472" y="2871216"/>
            <a:ext cx="3566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0" b="1" i="0">
                <a:solidFill>
                  <a:srgbClr val="BEC7CB"/>
                </a:solidFill>
                <a:latin typeface="Aptos"/>
              </a:rPr>
              <a:t>PRODUCT FLOW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05472" y="3108960"/>
            <a:ext cx="3977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BEC7CB"/>
                </a:solidFill>
                <a:latin typeface="Aptos"/>
              </a:rPr>
              <a:t>Incident scenarios, constraints, and the dispatcher workflow.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3749039"/>
            <a:ext cx="5212080" cy="1078992"/>
          </a:xfrm>
          <a:prstGeom prst="rect">
            <a:avLst/>
          </a:prstGeom>
          <a:solidFill>
            <a:srgbClr val="040507"/>
          </a:solidFill>
          <a:ln w="889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32688" y="3931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7F8"/>
                </a:solidFill>
                <a:latin typeface="Aptos Display"/>
              </a:rPr>
              <a:t>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45920" y="3913631"/>
            <a:ext cx="3474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60" b="1" i="0">
                <a:solidFill>
                  <a:srgbClr val="F5F7F8"/>
                </a:solidFill>
                <a:latin typeface="Aptos"/>
              </a:rPr>
              <a:t>Moon Shah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45920" y="4224527"/>
            <a:ext cx="3566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0" b="1" i="0">
                <a:solidFill>
                  <a:srgbClr val="BEC7CB"/>
                </a:solidFill>
                <a:latin typeface="Aptos"/>
              </a:rPr>
              <a:t>EXPERIENCE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4462272"/>
            <a:ext cx="3977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BEC7CB"/>
                </a:solidFill>
                <a:latin typeface="Aptos"/>
              </a:rPr>
              <a:t>Dashboard experience, map surface, and clear recommendations under pressure.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91072" y="3749039"/>
            <a:ext cx="5212080" cy="1078992"/>
          </a:xfrm>
          <a:prstGeom prst="rect">
            <a:avLst/>
          </a:prstGeom>
          <a:noFill/>
          <a:ln w="889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92240" y="3931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7F8"/>
                </a:solidFill>
                <a:latin typeface="Aptos Display"/>
              </a:rPr>
              <a:t>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05472" y="3913631"/>
            <a:ext cx="3474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60" b="1" i="0">
                <a:solidFill>
                  <a:srgbClr val="F5F7F8"/>
                </a:solidFill>
                <a:latin typeface="Aptos"/>
              </a:rPr>
              <a:t>Dhruvil Shah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05472" y="4224527"/>
            <a:ext cx="3566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0" b="1" i="0">
                <a:solidFill>
                  <a:srgbClr val="BEC7CB"/>
                </a:solidFill>
                <a:latin typeface="Aptos"/>
              </a:rPr>
              <a:t>BACKEND &amp; DELIVERY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05472" y="4462272"/>
            <a:ext cx="3977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BEC7CB"/>
                </a:solidFill>
                <a:latin typeface="Aptos"/>
              </a:rPr>
              <a:t>FastAPI service, ranking engine, live state, audit layer, and deployment.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31520" y="5239512"/>
            <a:ext cx="10744200" cy="0"/>
          </a:xfrm>
          <a:prstGeom prst="line">
            <a:avLst/>
          </a:prstGeom>
          <a:ln w="8255">
            <a:solidFill>
              <a:srgbClr val="788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31520" y="5449824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F5F7F8"/>
                </a:solidFill>
                <a:latin typeface="Aptos"/>
              </a:rPr>
              <a:t>GITHUB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08760" y="5431536"/>
            <a:ext cx="6217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40" b="0" i="0">
                <a:solidFill>
                  <a:srgbClr val="75DEDF"/>
                </a:solidFill>
                <a:latin typeface="Aptos"/>
              </a:rPr>
              <a:t>github.com/SrijanX/bob-ai-hackathon-SrijanX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5797296"/>
            <a:ext cx="8229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 i="0">
                <a:solidFill>
                  <a:srgbClr val="BEC7CB"/>
                </a:solidFill>
                <a:latin typeface="Aptos"/>
              </a:rPr>
              <a:t>A working prototype combining product framing, experience, decision logic, IBM integration, and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1055</Words>
  <Application>Microsoft Office PowerPoint</Application>
  <PresentationFormat>Widescreen</PresentationFormat>
  <Paragraphs>153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Ambulance-to-Hospital Coordinator · SrijanX</dc:title>
  <dc:subject>IBM Bob Hackathon / AI track</dc:subject>
  <dc:creator>SrijanX</dc:creator>
  <cp:keywords>ambulance, hospital, coordinator, IBM watsonx.ai, Granite, SrijanX</cp:keywords>
  <dc:description>generated using python-pptx</dc:description>
  <cp:lastModifiedBy>Moon Shah</cp:lastModifiedBy>
  <cp:revision>2</cp:revision>
  <dcterms:created xsi:type="dcterms:W3CDTF">2013-01-27T09:14:16Z</dcterms:created>
  <dcterms:modified xsi:type="dcterms:W3CDTF">2026-09-15T09:25:29Z</dcterms:modified>
  <cp:category/>
</cp:coreProperties>
</file>